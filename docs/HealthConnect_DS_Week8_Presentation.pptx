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</c:v>
                </c:pt>
              </c:strCache>
            </c:strRef>
          </c:tx>
          <c:spPr>
            <a:solidFill>
              <a:srgbClr val="F2A623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423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0–7 days</c:v>
                  </c:pt>
                  <c:pt idx="1">
                    <c:v>8–14 days</c:v>
                  </c:pt>
                  <c:pt idx="2">
                    <c:v>15–21 days</c:v>
                  </c:pt>
                  <c:pt idx="3">
                    <c:v>22–30 days</c:v>
                  </c:pt>
                  <c:pt idx="4">
                    <c:v>31–45 days</c:v>
                  </c:pt>
                  <c:pt idx="5">
                    <c:v>46–60 days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0.28</c:v>
                </c:pt>
                <c:pt idx="1">
                  <c:v>0.34</c:v>
                </c:pt>
                <c:pt idx="2">
                  <c:v>0.41</c:v>
                </c:pt>
                <c:pt idx="3">
                  <c:v>0.45</c:v>
                </c:pt>
                <c:pt idx="4">
                  <c:v>0.54</c:v>
                </c:pt>
                <c:pt idx="5">
                  <c:v>0.68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2423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A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</c:scaling>
        <c:delete val="0"/>
        <c:axPos val="l"/>
        <c:majorGridlines>
          <c:spPr>
            <a:ln w="9525" cap="flat">
              <a:solidFill>
                <a:srgbClr val="E6E6EE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A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 5 Baseline</c:v>
                </c:pt>
              </c:strCache>
            </c:strRef>
          </c:tx>
          <c:spPr>
            <a:solidFill>
              <a:srgbClr val="A9A6D9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2423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ROC-AUC</c:v>
                  </c:pt>
                  <c:pt idx="1">
                    <c:v>Accuracy</c:v>
                  </c:pt>
                  <c:pt idx="2">
                    <c:v>Recall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0.678</c:v>
                </c:pt>
                <c:pt idx="1">
                  <c:v>0.627</c:v>
                </c:pt>
                <c:pt idx="2">
                  <c:v>0.65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Final Model</c:v>
                </c:pt>
              </c:strCache>
            </c:strRef>
          </c:tx>
          <c:spPr>
            <a:solidFill>
              <a:srgbClr val="0F6E56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2423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ROC-AUC</c:v>
                  </c:pt>
                  <c:pt idx="1">
                    <c:v>Accuracy</c:v>
                  </c:pt>
                  <c:pt idx="2">
                    <c:v>Recall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0.685</c:v>
                </c:pt>
                <c:pt idx="1">
                  <c:v>0.617</c:v>
                </c:pt>
                <c:pt idx="2">
                  <c:v>0.828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50" u="none">
                  <a:solidFill>
                    <a:srgbClr val="2423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A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9525" cap="flat">
              <a:solidFill>
                <a:srgbClr val="E6E6EE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A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6A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2A2768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023360" cy="4023360"/>
          </a:xfrm>
          <a:prstGeom prst="ellipse">
            <a:avLst/>
          </a:prstGeom>
          <a:solidFill>
            <a:srgbClr val="2A276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6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· EXPERIENCE LAB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HealthConnect Clinic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089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No-Show Prediction — Final Data Science Presentation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77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Ayden Demanou</a:t>
            </a:r>
            <a:pPr indent="0" marL="0">
              <a:buNone/>
            </a:pPr>
            <a:r>
              <a:rPr lang="en-US" sz="1500" dirty="0">
                <a:solidFill>
                  <a:srgbClr val="C9C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Data Science Track  ·  Final Integration &amp; Presentation, Week 8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1206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AFA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HealthConnect Clinic use data and AI to reduce missed appointments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AFA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improve the patient support experience?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HealthConnect Needed This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7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30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miss scheduled appointments with no early warning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004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30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slots waste clinical capacity and lengthen waiting lists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9776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30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have no way to prioritise limited reminder-outreach effort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1D1B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2940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Role — Data Science Track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4231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300" dirty="0">
                <a:solidFill>
                  <a:srgbClr val="E4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whether appointment data can predict no-shows before they happen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32004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300" dirty="0">
                <a:solidFill>
                  <a:srgbClr val="E4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test, and statistically validate a working prediction model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39776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300" dirty="0">
                <a:solidFill>
                  <a:srgbClr val="E4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off a documented, production-ready model to Engineering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· Data Science Track · AnalystLab Africa Experience Lab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INSIGHT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Strongest Signal: Booking Lead Time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 by how far in advance the appointment was booked (5,000 appointments)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66751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52360" y="1920240"/>
            <a:ext cx="4160520" cy="3931920"/>
          </a:xfrm>
          <a:prstGeom prst="roundRect">
            <a:avLst>
              <a:gd name="adj" fmla="val 2791"/>
            </a:avLst>
          </a:prstGeom>
          <a:solidFill>
            <a:srgbClr val="F7F6F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0" y="2194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told us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2697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20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lead time is by far the strongest predictor of no-show risk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34747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20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no-show history is the second strongest signal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42519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20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(age, gender) show weak, flat relationships individually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50292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20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shaped which features went into the model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· Data Science Track · AnalystLab Africa Experience Lab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Baseline to Validated Final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F7F6FB"/>
          </a:solidFill>
          <a:ln/>
        </p:spPr>
      </p:sp>
      <p:sp>
        <p:nvSpPr>
          <p:cNvPr id="5" name="Shape 3"/>
          <p:cNvSpPr/>
          <p:nvPr/>
        </p:nvSpPr>
        <p:spPr>
          <a:xfrm>
            <a:off x="1604772" y="2468880"/>
            <a:ext cx="585216" cy="585216"/>
          </a:xfrm>
          <a:prstGeom prst="ellipse">
            <a:avLst/>
          </a:prstGeom>
          <a:solidFill>
            <a:srgbClr val="8079C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468880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461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B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20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005072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patient-grouped split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32918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74720" y="219456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F7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4439412" y="2468880"/>
            <a:ext cx="585216" cy="58521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74720" y="2468880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2461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B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3520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4005072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analysis,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refinement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989320" y="32918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309360" y="219456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F7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7274052" y="2468880"/>
            <a:ext cx="585216" cy="585216"/>
          </a:xfrm>
          <a:prstGeom prst="ellipse">
            <a:avLst/>
          </a:prstGeom>
          <a:solidFill>
            <a:srgbClr val="BA751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09360" y="2468880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32461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B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3520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&amp; Refine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005072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validation,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823960" y="32918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144000" y="219456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F7F6FB"/>
          </a:solidFill>
          <a:ln/>
        </p:spPr>
      </p:sp>
      <p:sp>
        <p:nvSpPr>
          <p:cNvPr id="26" name="Shape 24"/>
          <p:cNvSpPr/>
          <p:nvPr/>
        </p:nvSpPr>
        <p:spPr>
          <a:xfrm>
            <a:off x="10108692" y="2468880"/>
            <a:ext cx="585216" cy="5852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0" y="2468880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9144000" y="32461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B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0" y="3520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Finalize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9281160" y="4005072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Cross-track validation,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hand-off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tested the one before it — including catching an earlier “improvement” that didn't survive statistical scrutiny.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· Data Science Track · AnalystLab Africa Experience Lab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vs. Final Model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6675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554480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F7F6F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80960" y="1664208"/>
            <a:ext cx="1554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0.685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281160" y="1664208"/>
            <a:ext cx="2148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ROC-AUC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(statistically confirmed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452360" y="3017520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F7F6F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3127248"/>
            <a:ext cx="1554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82.8%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9281160" y="3127248"/>
            <a:ext cx="2148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 real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no-shows (final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52360" y="4480560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F7F6F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680960" y="4590288"/>
            <a:ext cx="1554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1.43×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9281160" y="4590288"/>
            <a:ext cx="2148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in the top-20%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highest-risk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· Data Science Track · AnalystLab Africa Experience Lab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CROSS-TRACK COLLABORATION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With Data Analytics — Not Just Discussed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asked a direct question: do two shared features actually earn their place in the model? Tested with with-vs-without ablation and bootstrap significance — not opinion.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FDEAE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4231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71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long_lead_followup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47472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95% CI included zero. Won only 4 of 5 cross-validation folds. Confirmed the feature I had built and praised a week earlier did not survive proper scrutiny — removed on the evidence.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210312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E8F5EC"/>
          </a:solidFill>
          <a:ln/>
        </p:spPr>
      </p:sp>
      <p:sp>
        <p:nvSpPr>
          <p:cNvPr id="11" name="Shape 9"/>
          <p:cNvSpPr/>
          <p:nvPr/>
        </p:nvSpPr>
        <p:spPr>
          <a:xfrm>
            <a:off x="6629400" y="242316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4E7A1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29400" y="2423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971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distance_to_clinic_km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347472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5 of 5 cross-validation folds despite a near-zero standalone correlation (ρ≈0.055). A weak standalone signal still carried small, real multivariable value — kept in the final model.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· Data Science Track · AnalystLab Africa Experience Lab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ACCOUNTING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Fairness, Limitations &amp; Business Value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29000" cy="4572000"/>
          </a:xfrm>
          <a:prstGeom prst="roundRect">
            <a:avLst>
              <a:gd name="adj" fmla="val 2667"/>
            </a:avLst>
          </a:prstGeom>
          <a:solidFill>
            <a:srgbClr val="F7F6F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3429000" cy="502920"/>
          </a:xfrm>
          <a:prstGeom prst="rect">
            <a:avLst/>
          </a:prstGeom>
          <a:solidFill>
            <a:srgbClr val="4E7A1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508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✓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20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material disparity by gender (recall 83.1% vs. 82.6%)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20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risk tracked actual rates closely across all age groups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66344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20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small-sample caveat flagged for ongoing monitoring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1508760"/>
            <a:ext cx="3429000" cy="4572000"/>
          </a:xfrm>
          <a:prstGeom prst="roundRect">
            <a:avLst>
              <a:gd name="adj" fmla="val 2667"/>
            </a:avLst>
          </a:prstGeom>
          <a:solidFill>
            <a:srgbClr val="F7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4251960" y="1508760"/>
            <a:ext cx="3429000" cy="502920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80560" y="1508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19456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20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Short-lead, clean-history no-shows remain hard to detect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342900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20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 is moderate (~62%) — not a high-stakes decision tool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466344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20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 threshold trade-off still needs stakeholder sign-off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5280" y="1508760"/>
            <a:ext cx="3429000" cy="4572000"/>
          </a:xfrm>
          <a:prstGeom prst="roundRect">
            <a:avLst>
              <a:gd name="adj" fmla="val 2667"/>
            </a:avLst>
          </a:prstGeom>
          <a:solidFill>
            <a:srgbClr val="F7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955280" y="1508760"/>
            <a:ext cx="3429000" cy="50292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83880" y="1508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219456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20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Prioritises limited reminder-outreach capacity effectively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342900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20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1.43× lift in catching real no-shows within top-risk appointments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66344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200" dirty="0">
                <a:solidFill>
                  <a:srgbClr val="2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scheduling patterns worth a policy look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· Data Science Track · AnalystLab Africa Experience Lab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A2768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114800"/>
            <a:ext cx="4114800" cy="4114800"/>
          </a:xfrm>
          <a:prstGeom prst="ellipse">
            <a:avLst/>
          </a:prstGeom>
          <a:solidFill>
            <a:srgbClr val="2A276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6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claim in this project is backed by a test — including the ones that proved my own earlier work wrong.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C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improve in a future version: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747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→"/>
            </a:pPr>
            <a:r>
              <a:rPr lang="en-US" sz="1400" dirty="0">
                <a:solidFill>
                  <a:srgbClr val="E4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short-lead/clean-history blind spot with richer data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931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→"/>
            </a:pPr>
            <a:r>
              <a:rPr lang="en-US" sz="1400" dirty="0">
                <a:solidFill>
                  <a:srgbClr val="E4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a single held-out split to full nested cross-validation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389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→"/>
            </a:pPr>
            <a:r>
              <a:rPr lang="en-US" sz="1400" dirty="0">
                <a:solidFill>
                  <a:srgbClr val="E4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threshold's cost trade-off directly with clinic stakeholders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212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A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Ayden Demanou · Data Science Track · AnalystLab Africa HealthConnect Experience Lab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2026-09-25T06:24:18Z</dcterms:created>
  <dcterms:modified xsi:type="dcterms:W3CDTF">2026-09-25T06:24:18Z</dcterms:modified>
</cp:coreProperties>
</file>